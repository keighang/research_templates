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7"/>
  </p:notesMasterIdLst>
  <p:sldIdLst>
    <p:sldId id="435" r:id="rId2"/>
    <p:sldId id="499" r:id="rId3"/>
    <p:sldId id="473" r:id="rId4"/>
    <p:sldId id="474" r:id="rId5"/>
    <p:sldId id="4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aper Discussion from Luna" id="{7287ACD1-1543-174C-8FA1-9081000DAB9A}">
          <p14:sldIdLst/>
        </p14:section>
        <p14:section name="Research Update from Keighan" id="{D9C646C3-A5BD-D14F-B103-C69F5F313409}">
          <p14:sldIdLst/>
        </p14:section>
        <p14:section name="Background/Intro" id="{D0F6DD93-64C0-F443-AC4B-BFDFFEB8086B}">
          <p14:sldIdLst>
            <p14:sldId id="435"/>
          </p14:sldIdLst>
        </p14:section>
        <p14:section name="Computational/predicting 1O2 generation" id="{E5630DA3-D8A5-B341-A915-BE5EAC97DFAA}">
          <p14:sldIdLst>
            <p14:sldId id="499"/>
            <p14:sldId id="473"/>
            <p14:sldId id="474"/>
            <p14:sldId id="4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463"/>
    <p:restoredTop sz="93239"/>
  </p:normalViewPr>
  <p:slideViewPr>
    <p:cSldViewPr snapToGrid="0">
      <p:cViewPr varScale="1">
        <p:scale>
          <a:sx n="110" d="100"/>
          <a:sy n="110" d="100"/>
        </p:scale>
        <p:origin x="200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2438E7-7465-C14D-A8A3-9C0628275DE1}" type="datetimeFigureOut">
              <a:rPr lang="en-US" smtClean="0"/>
              <a:t>6/19/25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C7A9FC-8034-B64B-B096-89B62F2C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54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Mention terms: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 photosensitizer or sensitizer is BrC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- Triplet state is 3BrC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7A9FC-8034-B64B-B096-89B62F2CB3A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91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C7A9FC-8034-B64B-B096-89B62F2CB3A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760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4C019-FC98-73A6-0F1D-FE83D4F978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15CCE1-A0FE-181F-049B-98749B3B5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A0260-D0BB-0842-901E-3F5AF416D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EFBC0-C0D8-F545-8605-0AD9E277CF77}" type="datetime1">
              <a:rPr lang="en-CA" smtClean="0"/>
              <a:t>2025-06-19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18A969-BBB5-093B-731A-10A4A55D8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14FBA5-70A7-FD2F-F717-382E292BE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F5A9-A7A4-B840-869F-43DAB9F71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21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FA139-1214-A630-9EF1-A461B6CD0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15BB2-06AF-3979-4B35-0CFCFFA52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06B59-20D4-FF8F-30DB-3501EAF06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C21AA-3F17-984A-A500-8457F8266380}" type="datetime1">
              <a:rPr lang="en-CA" smtClean="0"/>
              <a:t>2025-06-19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7D898A-B891-E720-6FFF-00753CEB2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C3A79-798B-D0A1-7750-30761E614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F5A9-A7A4-B840-869F-43DAB9F71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492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68387-66C4-DE95-C758-E24ECB225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9F5BA-72B7-80B5-2BB5-F20246FDC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F447E-2DB6-B69D-0A1F-1F393CDAC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0571B1-50B0-AE49-9BD2-6E42A6C6B897}" type="datetime1">
              <a:rPr lang="en-CA" smtClean="0"/>
              <a:t>2025-06-19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CD1E1-8CA3-95D0-5548-070219870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B6891-BC37-491B-F5EE-4AE58BBB5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F5A9-A7A4-B840-869F-43DAB9F71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94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03A97-BDE7-0DBA-0CBF-C1106F643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AE519-BC87-4842-628E-AC21EE28F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502DD9-A46D-9705-44D9-EDAE0240A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4DE7BA-020B-16BD-ED0B-9D0AB6B3E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2677A-AC83-4A46-90ED-0D0B4675D6B3}" type="datetime1">
              <a:rPr lang="en-CA" smtClean="0"/>
              <a:t>2025-06-19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9F5AD-8BD5-4C6D-D05B-8C1D825DE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4578BB-C178-2ED8-1298-157F992FE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F5A9-A7A4-B840-869F-43DAB9F71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565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F6FA7-58A1-2A6B-2817-DC1C2F15D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5BC0F-36E2-913D-E86F-264E868B1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4A8D5-5D6C-763D-03A7-3DDDB786F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2CEC22-8C62-DD9A-959B-E2F4CDE5E6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3C9F96-8FDE-1747-FD31-4BAE68BD8F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A7D5E9-94B1-D619-F9E2-1315633CC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9C90E-0935-0048-B1DC-722B32628D4B}" type="datetime1">
              <a:rPr lang="en-CA" smtClean="0"/>
              <a:t>2025-06-19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D7CC5F-D4C7-704C-BBF4-31F380E04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813B24-1E16-C61E-2301-E6C5D387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F5A9-A7A4-B840-869F-43DAB9F71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393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BC1B9-46CF-E01D-3043-6808B7C0D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1E05F4-2667-110E-8265-3FD413280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3B501-7E0C-7A40-A0DA-329E7B75CEAA}" type="datetime1">
              <a:rPr lang="en-CA" smtClean="0"/>
              <a:t>2025-06-19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38A77-3754-C4A4-FCBE-7B240B60B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60EB92-AA3E-207C-FBF6-D36B16C4C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F5A9-A7A4-B840-869F-43DAB9F71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107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54F9D-5436-92F3-A32E-4C864B623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81E095-9704-0E41-8094-4F527B4943F0}" type="datetime1">
              <a:rPr lang="en-CA" smtClean="0"/>
              <a:t>2025-06-19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D89457-1D50-0344-C41A-B92324A8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23FBF-57B4-D1C3-2FF1-B9D855D01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F5A9-A7A4-B840-869F-43DAB9F71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089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1A26A-D587-2CB1-03FA-48948BFE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C73C2-E6ED-9D51-BDB4-0C57C0BA1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CE99BB-E4C3-CE7D-451E-60AF1DCAB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7DD2B-D363-806C-3575-BBEDC4896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7D569-20B1-F541-B3B1-B2512348C2C6}" type="datetime1">
              <a:rPr lang="en-CA" smtClean="0"/>
              <a:t>2025-06-19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891CE-11F8-A12E-C6E9-10EBB0CF9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F1E7F-BA26-BA86-21BD-D60A66152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F5A9-A7A4-B840-869F-43DAB9F71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117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899C1-B51D-43F7-75A9-82016D63A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07062C-BA14-0AA0-DB56-7DE44C7EB3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D279E-A5AD-2B82-062F-CCE40014C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41EA3-2A81-B610-93A0-0628CFC85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CFF6E-B701-BF45-8F7D-DC2F704B23B4}" type="datetime1">
              <a:rPr lang="en-CA" smtClean="0"/>
              <a:t>2025-06-19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72A9C-E52A-BA7A-062A-3B6973C6B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0D6B7B-97A0-5B24-2B98-E08705AE8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F5A9-A7A4-B840-869F-43DAB9F71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739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65F2C-6453-4513-B699-BF6379148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C0CFC-E3EF-5DC9-BD7B-F35249EBEC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4711E-0F5A-3A0E-DD57-6A08EA8E6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14731-11E1-AD4D-AFC1-604BBBF6650C}" type="datetime1">
              <a:rPr lang="en-CA" smtClean="0"/>
              <a:t>2025-06-19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A4CF5-0F2F-5637-86E8-97326B57B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A18AA-4BAF-713D-5E50-C6508F843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F5A9-A7A4-B840-869F-43DAB9F71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9961D3-5DAF-BF18-E456-75948FDBF5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032391-4BA5-38F4-D01C-FE6BF252D7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63461-D412-F8D5-FF68-88DB8C19B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896AE-2469-674B-ACA3-D329FC9C1C73}" type="datetime1">
              <a:rPr lang="en-CA" smtClean="0"/>
              <a:t>2025-06-19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0483D9-899F-AEDD-745A-71BD3695A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80400-72EE-8A1E-6254-001B3A581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2F5A9-A7A4-B840-869F-43DAB9F71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1644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main-mall.fixed.jpg">
            <a:extLst>
              <a:ext uri="{FF2B5EF4-FFF2-40B4-BE49-F238E27FC236}">
                <a16:creationId xmlns:a16="http://schemas.microsoft.com/office/drawing/2014/main" id="{99F2CE1B-9D06-8F47-8CBE-3E8745E75C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719B695-6760-9F43-AF0B-2129B24CF0D3}"/>
              </a:ext>
            </a:extLst>
          </p:cNvPr>
          <p:cNvSpPr/>
          <p:nvPr userDrawn="1"/>
        </p:nvSpPr>
        <p:spPr>
          <a:xfrm>
            <a:off x="-143933" y="1509184"/>
            <a:ext cx="8163984" cy="3647016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70CBF0-22B3-9F43-BD91-BEF82C0EFE50}"/>
              </a:ext>
            </a:extLst>
          </p:cNvPr>
          <p:cNvSpPr/>
          <p:nvPr userDrawn="1"/>
        </p:nvSpPr>
        <p:spPr>
          <a:xfrm>
            <a:off x="10991851" y="1509185"/>
            <a:ext cx="1200149" cy="1509183"/>
          </a:xfrm>
          <a:prstGeom prst="rect">
            <a:avLst/>
          </a:prstGeom>
          <a:solidFill>
            <a:srgbClr val="FFFFFF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sz="2400"/>
          </a:p>
        </p:txBody>
      </p:sp>
      <p:pic>
        <p:nvPicPr>
          <p:cNvPr id="11" name="Picture 3" descr="s4b282c2015.png">
            <a:extLst>
              <a:ext uri="{FF2B5EF4-FFF2-40B4-BE49-F238E27FC236}">
                <a16:creationId xmlns:a16="http://schemas.microsoft.com/office/drawing/2014/main" id="{A8B269EE-6CEB-E941-8E38-1DA4C5CA25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685" y="1919817"/>
            <a:ext cx="484716" cy="658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Placeholder 14"/>
          <p:cNvSpPr>
            <a:spLocks noGrp="1"/>
          </p:cNvSpPr>
          <p:nvPr>
            <p:ph type="body" sz="quarter" idx="12"/>
          </p:nvPr>
        </p:nvSpPr>
        <p:spPr>
          <a:xfrm>
            <a:off x="487681" y="4005064"/>
            <a:ext cx="7240271" cy="428525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2400" b="0" i="0" kern="0" spc="40" baseline="0">
                <a:solidFill>
                  <a:schemeClr val="tx1"/>
                </a:solidFill>
                <a:latin typeface="Arial"/>
                <a:cs typeface="Arial"/>
              </a:defRPr>
            </a:lvl1pPr>
            <a:lvl2pPr>
              <a:defRPr sz="1200" b="0" i="0">
                <a:latin typeface="Whitney Book"/>
                <a:cs typeface="Whitney Book"/>
              </a:defRPr>
            </a:lvl2pPr>
            <a:lvl3pPr>
              <a:defRPr sz="1200" b="0" i="0">
                <a:latin typeface="Whitney Book"/>
                <a:cs typeface="Whitney Book"/>
              </a:defRPr>
            </a:lvl3pPr>
            <a:lvl4pPr>
              <a:defRPr sz="1200" b="0" i="0">
                <a:latin typeface="Whitney Book"/>
                <a:cs typeface="Whitney Book"/>
              </a:defRPr>
            </a:lvl4pPr>
            <a:lvl5pPr>
              <a:defRPr sz="1200" b="0" i="0">
                <a:latin typeface="Whitney Book"/>
                <a:cs typeface="Whitney Book"/>
              </a:defRPr>
            </a:lvl5pPr>
          </a:lstStyle>
          <a:p>
            <a:pPr lvl="0"/>
            <a:r>
              <a:rPr lang="en-CA" dirty="0"/>
              <a:t>Click to edit Master text styles</a:t>
            </a:r>
          </a:p>
        </p:txBody>
      </p:sp>
      <p:sp>
        <p:nvSpPr>
          <p:cNvPr id="9" name="Text Placeholder 14"/>
          <p:cNvSpPr>
            <a:spLocks noGrp="1"/>
          </p:cNvSpPr>
          <p:nvPr>
            <p:ph type="body" sz="quarter" idx="13"/>
          </p:nvPr>
        </p:nvSpPr>
        <p:spPr>
          <a:xfrm>
            <a:off x="487681" y="4677139"/>
            <a:ext cx="7240271" cy="428525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 sz="1333" b="1" i="0" kern="0" cap="none" spc="0" normalizeH="0" baseline="0">
                <a:solidFill>
                  <a:srgbClr val="0C2344"/>
                </a:solidFill>
                <a:latin typeface="Arial"/>
                <a:cs typeface="Arial"/>
              </a:defRPr>
            </a:lvl1pPr>
            <a:lvl2pPr>
              <a:defRPr sz="1200" b="0" i="0">
                <a:latin typeface="Whitney Book"/>
                <a:cs typeface="Whitney Book"/>
              </a:defRPr>
            </a:lvl2pPr>
            <a:lvl3pPr>
              <a:defRPr sz="1200" b="0" i="0">
                <a:latin typeface="Whitney Book"/>
                <a:cs typeface="Whitney Book"/>
              </a:defRPr>
            </a:lvl3pPr>
            <a:lvl4pPr>
              <a:defRPr sz="1200" b="0" i="0">
                <a:latin typeface="Whitney Book"/>
                <a:cs typeface="Whitney Book"/>
              </a:defRPr>
            </a:lvl4pPr>
            <a:lvl5pPr>
              <a:defRPr sz="1200" b="0" i="0">
                <a:latin typeface="Whitney Book"/>
                <a:cs typeface="Whitney Book"/>
              </a:defRPr>
            </a:lvl5pPr>
          </a:lstStyle>
          <a:p>
            <a:pPr lvl="0"/>
            <a:r>
              <a:rPr lang="en-CA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779DC0-4A73-E84F-842B-91FFF0BB6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660" y="1776861"/>
            <a:ext cx="7234291" cy="2228203"/>
          </a:xfrm>
          <a:prstGeom prst="rect">
            <a:avLst/>
          </a:prstGeom>
        </p:spPr>
        <p:txBody>
          <a:bodyPr lIns="0" tIns="0" rIns="0" bIns="0"/>
          <a:lstStyle>
            <a:lvl1pPr algn="l">
              <a:lnSpc>
                <a:spcPts val="5067"/>
              </a:lnSpc>
              <a:defRPr lang="en-US" sz="4533" b="1" i="0" kern="0" cap="none" spc="0" baseline="0" dirty="0">
                <a:solidFill>
                  <a:schemeClr val="tx1"/>
                </a:solidFill>
                <a:latin typeface="Arial"/>
                <a:ea typeface="MS PGothic" panose="020B0600070205080204" pitchFamily="34" charset="-128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9078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1DBC12-86DE-C246-A5A6-72B72CBDD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393BDF-E118-DC09-6776-6C034C1D90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84E38B-F479-DE61-6421-BE84E6C8D6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3A9273-519F-7C40-9423-B80ACDB12C65}" type="datetime1">
              <a:rPr lang="en-CA" smtClean="0"/>
              <a:t>2025-06-19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E6969-DDF7-FF42-4258-D48C6F0CCA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37B68-2EFC-EC07-1674-56130EBBA6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D2F5A9-A7A4-B840-869F-43DAB9F717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759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0.png"/><Relationship Id="rId4" Type="http://schemas.openxmlformats.org/officeDocument/2006/relationships/image" Target="../media/image5.svg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58828E-24D3-D99E-83E5-705789BC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D2F5A9-A7A4-B840-869F-43DAB9F717E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4620313-A836-DED4-9D99-E686CBF92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1365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Why These Photosensitizers?</a:t>
            </a:r>
            <a:endParaRPr lang="en-US" sz="4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57A26A-B028-B1A7-09F3-DE376EC22F95}"/>
              </a:ext>
            </a:extLst>
          </p:cNvPr>
          <p:cNvSpPr txBox="1"/>
          <p:nvPr/>
        </p:nvSpPr>
        <p:spPr>
          <a:xfrm>
            <a:off x="5950430" y="2099169"/>
            <a:ext cx="55749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Quinones (Juglone) are associated with BrC formation (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Manfrin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et al.,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ES&amp;T,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2019)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9D83D6-9376-9E86-13A1-E1325BC3B1AA}"/>
              </a:ext>
            </a:extLst>
          </p:cNvPr>
          <p:cNvSpPr txBox="1"/>
          <p:nvPr/>
        </p:nvSpPr>
        <p:spPr>
          <a:xfrm>
            <a:off x="5950430" y="4518940"/>
            <a:ext cx="609985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Perinaphthenone (PN) is a well studied sensitizer and is atmospherically relevant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CA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Samburova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et al., </a:t>
            </a:r>
            <a:r>
              <a:rPr kumimoji="0" lang="en-CA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Sci. Total Environ.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2016 ; Schmidt et al., </a:t>
            </a:r>
            <a:r>
              <a:rPr kumimoji="0" lang="en-CA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J. Photochem. Photobiol. A: Chem.</a:t>
            </a:r>
            <a:r>
              <a:rPr kumimoji="0" lang="en-CA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1994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pic>
        <p:nvPicPr>
          <p:cNvPr id="111" name="Picture 110" descr="A screenshot of a game&#10;&#10;Description automatically generated">
            <a:extLst>
              <a:ext uri="{FF2B5EF4-FFF2-40B4-BE49-F238E27FC236}">
                <a16:creationId xmlns:a16="http://schemas.microsoft.com/office/drawing/2014/main" id="{57F94108-5811-70E1-CB66-C8B4FC917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56" y="1271857"/>
            <a:ext cx="4652834" cy="574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851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58828E-24D3-D99E-83E5-705789BC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D2F5A9-A7A4-B840-869F-43DAB9F717E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itle 5">
            <a:extLst>
              <a:ext uri="{FF2B5EF4-FFF2-40B4-BE49-F238E27FC236}">
                <a16:creationId xmlns:a16="http://schemas.microsoft.com/office/drawing/2014/main" id="{885308C8-3310-4047-50AE-A834B8B55505}"/>
              </a:ext>
            </a:extLst>
          </p:cNvPr>
          <p:cNvSpPr txBox="1">
            <a:spLocks/>
          </p:cNvSpPr>
          <p:nvPr/>
        </p:nvSpPr>
        <p:spPr>
          <a:xfrm>
            <a:off x="289560" y="136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FF"/>
                </a:solidFill>
              </a:rPr>
              <a:t>Predicting </a:t>
            </a:r>
            <a:r>
              <a:rPr lang="en-US" sz="4400" baseline="30000" dirty="0">
                <a:solidFill>
                  <a:srgbClr val="FFFFFF"/>
                </a:solidFill>
              </a:rPr>
              <a:t>1</a:t>
            </a:r>
            <a:r>
              <a:rPr lang="en-US" sz="4400" dirty="0">
                <a:solidFill>
                  <a:srgbClr val="FFFFFF"/>
                </a:solidFill>
              </a:rPr>
              <a:t>O</a:t>
            </a:r>
            <a:r>
              <a:rPr lang="en-US" sz="4400" baseline="-25000" dirty="0">
                <a:solidFill>
                  <a:srgbClr val="FFFFFF"/>
                </a:solidFill>
              </a:rPr>
              <a:t>2</a:t>
            </a:r>
            <a:r>
              <a:rPr lang="en-US" sz="4400" baseline="30000" dirty="0">
                <a:solidFill>
                  <a:srgbClr val="FFFFFF"/>
                </a:solidFill>
              </a:rPr>
              <a:t>* </a:t>
            </a:r>
            <a:r>
              <a:rPr lang="en-US" sz="4400" dirty="0">
                <a:solidFill>
                  <a:srgbClr val="FFFFFF"/>
                </a:solidFill>
              </a:rPr>
              <a:t>Generation </a:t>
            </a:r>
            <a:r>
              <a:rPr lang="en-US" dirty="0">
                <a:solidFill>
                  <a:srgbClr val="FFFFFF"/>
                </a:solidFill>
              </a:rPr>
              <a:t> </a:t>
            </a:r>
            <a:endParaRPr lang="en-US" dirty="0"/>
          </a:p>
        </p:txBody>
      </p:sp>
      <p:pic>
        <p:nvPicPr>
          <p:cNvPr id="5" name="Graphic 4" descr="Cloud Computing outline">
            <a:extLst>
              <a:ext uri="{FF2B5EF4-FFF2-40B4-BE49-F238E27FC236}">
                <a16:creationId xmlns:a16="http://schemas.microsoft.com/office/drawing/2014/main" id="{49FE59FE-C8B6-C0FD-4AA9-7B9AA4BABD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69155" y="88158"/>
            <a:ext cx="1325565" cy="13255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0EC141-6444-EB00-4D23-B20CB4C812B2}"/>
                  </a:ext>
                </a:extLst>
              </p:cNvPr>
              <p:cNvSpPr txBox="1"/>
              <p:nvPr/>
            </p:nvSpPr>
            <p:spPr>
              <a:xfrm>
                <a:off x="5560671" y="1733957"/>
                <a:ext cx="6099858" cy="30931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70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Recipe to make a lot of  </a:t>
                </a:r>
                <a:r>
                  <a:rPr lang="en-US" sz="2400" baseline="30000" dirty="0"/>
                  <a:t>1</a:t>
                </a:r>
                <a:r>
                  <a:rPr lang="en-US" sz="2400" dirty="0"/>
                  <a:t>O</a:t>
                </a:r>
                <a:r>
                  <a:rPr lang="en-US" sz="2400" baseline="-25000" dirty="0"/>
                  <a:t>2</a:t>
                </a:r>
                <a:r>
                  <a:rPr lang="en-US" sz="2400" baseline="30000" dirty="0"/>
                  <a:t>*:</a:t>
                </a:r>
              </a:p>
              <a:p>
                <a:pPr marL="69850" indent="-285750">
                  <a:buFont typeface="Arial" panose="020B0604020202020204" pitchFamily="34" charset="0"/>
                  <a:buChar char="•"/>
                </a:pPr>
                <a:endParaRPr lang="en-US" sz="1600" dirty="0"/>
              </a:p>
              <a:p>
                <a:pPr marL="5842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Low excited triplet state energy, </a:t>
                </a:r>
                <a:r>
                  <a:rPr lang="en-US" sz="2400" b="1" dirty="0"/>
                  <a:t>E</a:t>
                </a:r>
                <a:r>
                  <a:rPr lang="en-US" sz="2400" b="1" baseline="-25000" dirty="0"/>
                  <a:t>T</a:t>
                </a:r>
                <a:r>
                  <a:rPr lang="en-US" sz="2400" baseline="-25000" dirty="0"/>
                  <a:t>              </a:t>
                </a:r>
                <a:r>
                  <a:rPr lang="en-US" sz="1200" dirty="0"/>
                  <a:t>(</a:t>
                </a:r>
                <a:r>
                  <a:rPr lang="en-CA" sz="1200" dirty="0" err="1"/>
                  <a:t>Gollnick</a:t>
                </a:r>
                <a:r>
                  <a:rPr lang="en-CA" sz="1200" dirty="0"/>
                  <a:t> et al., </a:t>
                </a:r>
                <a:r>
                  <a:rPr lang="en-CA" sz="1200" i="1" dirty="0"/>
                  <a:t>Ann. N. Y. Acad. Sci.</a:t>
                </a:r>
                <a:r>
                  <a:rPr lang="en-CA" sz="1200" dirty="0"/>
                  <a:t>, 1970</a:t>
                </a:r>
                <a:r>
                  <a:rPr lang="en-US" sz="1200" dirty="0"/>
                  <a:t>)</a:t>
                </a:r>
                <a:endParaRPr lang="en-US" sz="1200" baseline="-25000" dirty="0"/>
              </a:p>
              <a:p>
                <a:pPr marL="241300" lvl="1"/>
                <a:endParaRPr lang="en-US" sz="2400" dirty="0"/>
              </a:p>
              <a:p>
                <a:pPr marL="584200" lvl="1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Low excited state reduction potential </a:t>
                </a:r>
                <a:r>
                  <a:rPr lang="en-US" sz="2400" b="1" dirty="0" err="1"/>
                  <a:t>E</a:t>
                </a:r>
                <a:r>
                  <a:rPr lang="en-US" sz="2400" b="1" baseline="30000" dirty="0" err="1"/>
                  <a:t>o</a:t>
                </a:r>
                <a:r>
                  <a:rPr lang="en-US" sz="2400" b="1" baseline="30000" dirty="0"/>
                  <a:t>*</a:t>
                </a:r>
                <a:r>
                  <a:rPr lang="en-US" sz="2400" baseline="30000" dirty="0"/>
                  <a:t> </a:t>
                </a:r>
                <a:r>
                  <a:rPr lang="en-US" sz="1200" dirty="0"/>
                  <a:t>(</a:t>
                </a:r>
                <a:r>
                  <a:rPr lang="en-CA" sz="1200" dirty="0"/>
                  <a:t>Schweitzer et al., </a:t>
                </a:r>
                <a:r>
                  <a:rPr lang="en-CA" sz="1200" i="1" dirty="0"/>
                  <a:t>J. Phys. Chem. A</a:t>
                </a:r>
                <a:r>
                  <a:rPr lang="en-CA" sz="1200" dirty="0"/>
                  <a:t>, 2003)</a:t>
                </a:r>
                <a:endParaRPr lang="en-US" sz="1200" baseline="30000" dirty="0"/>
              </a:p>
              <a:p>
                <a:pPr marL="584200" lvl="1" indent="-342900">
                  <a:buFont typeface="Arial" panose="020B0604020202020204" pitchFamily="34" charset="0"/>
                  <a:buChar char="•"/>
                </a:pPr>
                <a:endParaRPr lang="en-CA" sz="24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58420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sz="2400" b="1" dirty="0"/>
                  <a:t> ---&gt;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𝝅</m:t>
                    </m:r>
                  </m:oMath>
                </a14:m>
                <a:r>
                  <a:rPr lang="en-US" sz="2400" b="1" dirty="0"/>
                  <a:t>* </a:t>
                </a:r>
                <a:r>
                  <a:rPr lang="en-US" sz="2400" dirty="0"/>
                  <a:t>orbital transition                     </a:t>
                </a:r>
                <a:r>
                  <a:rPr lang="en-US" sz="1200" dirty="0"/>
                  <a:t>(</a:t>
                </a:r>
                <a:r>
                  <a:rPr lang="en-CA" sz="1200" dirty="0" err="1"/>
                  <a:t>Darmanyan</a:t>
                </a:r>
                <a:r>
                  <a:rPr lang="en-CA" sz="1200" dirty="0"/>
                  <a:t> et al., </a:t>
                </a:r>
                <a:r>
                  <a:rPr lang="en-CA" sz="1200" i="1" dirty="0"/>
                  <a:t>J. Phys. Chem.</a:t>
                </a:r>
                <a:r>
                  <a:rPr lang="en-CA" sz="1200" dirty="0"/>
                  <a:t>, 1993)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0EC141-6444-EB00-4D23-B20CB4C81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0671" y="1733957"/>
                <a:ext cx="6099858" cy="3093154"/>
              </a:xfrm>
              <a:prstGeom prst="rect">
                <a:avLst/>
              </a:prstGeom>
              <a:blipFill>
                <a:blip r:embed="rId6"/>
                <a:stretch>
                  <a:fillRect l="-1245" t="-1633" b="-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E7F9FAB-322B-5CA2-20DE-19F03BC240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7627" y="4977989"/>
            <a:ext cx="4264548" cy="1928378"/>
          </a:xfrm>
          <a:prstGeom prst="rect">
            <a:avLst/>
          </a:prstGeom>
        </p:spPr>
      </p:pic>
      <p:pic>
        <p:nvPicPr>
          <p:cNvPr id="18" name="Picture 17" descr="A computer screen with text and symbols&#10;&#10;Description automatically generated">
            <a:extLst>
              <a:ext uri="{FF2B5EF4-FFF2-40B4-BE49-F238E27FC236}">
                <a16:creationId xmlns:a16="http://schemas.microsoft.com/office/drawing/2014/main" id="{22F94904-6169-C43E-4147-7AF40B49EC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2176" y="4466899"/>
            <a:ext cx="2420504" cy="2425115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F078C78-4689-8F11-D6BC-F09C1285768D}"/>
              </a:ext>
            </a:extLst>
          </p:cNvPr>
          <p:cNvSpPr/>
          <p:nvPr/>
        </p:nvSpPr>
        <p:spPr>
          <a:xfrm>
            <a:off x="2471536" y="2731178"/>
            <a:ext cx="2690774" cy="1188993"/>
          </a:xfrm>
          <a:prstGeom prst="ellipse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4" name="Picture 63" descr="A screenshot of a game&#10;&#10;Description automatically generated">
            <a:extLst>
              <a:ext uri="{FF2B5EF4-FFF2-40B4-BE49-F238E27FC236}">
                <a16:creationId xmlns:a16="http://schemas.microsoft.com/office/drawing/2014/main" id="{340789EA-B3AF-25EB-6106-E3A5DD568B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9556" y="1271857"/>
            <a:ext cx="4652834" cy="574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853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58828E-24D3-D99E-83E5-705789BC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D2F5A9-A7A4-B840-869F-43DAB9F717E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994B3C06-A413-7655-89C3-8AC29D620B2F}"/>
              </a:ext>
            </a:extLst>
          </p:cNvPr>
          <p:cNvSpPr txBox="1">
            <a:spLocks/>
          </p:cNvSpPr>
          <p:nvPr/>
        </p:nvSpPr>
        <p:spPr>
          <a:xfrm>
            <a:off x="289560" y="136525"/>
            <a:ext cx="76390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FF"/>
                </a:solidFill>
              </a:rPr>
              <a:t>What does a TDDFT input file look like?</a:t>
            </a:r>
            <a:endParaRPr lang="en-US" dirty="0"/>
          </a:p>
        </p:txBody>
      </p:sp>
      <p:pic>
        <p:nvPicPr>
          <p:cNvPr id="9" name="Graphic 8" descr="Cloud Computing outline">
            <a:extLst>
              <a:ext uri="{FF2B5EF4-FFF2-40B4-BE49-F238E27FC236}">
                <a16:creationId xmlns:a16="http://schemas.microsoft.com/office/drawing/2014/main" id="{2065D604-70B0-6110-A4AE-237F55BDD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9155" y="88158"/>
            <a:ext cx="1325565" cy="1325565"/>
          </a:xfrm>
          <a:prstGeom prst="rect">
            <a:avLst/>
          </a:prstGeom>
        </p:spPr>
      </p:pic>
      <p:pic>
        <p:nvPicPr>
          <p:cNvPr id="5" name="Picture 4" descr="A computer screen with white text&#10;&#10;Description automatically generated">
            <a:extLst>
              <a:ext uri="{FF2B5EF4-FFF2-40B4-BE49-F238E27FC236}">
                <a16:creationId xmlns:a16="http://schemas.microsoft.com/office/drawing/2014/main" id="{2F721FA5-FC37-A834-D0C6-5D2417FB70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3751" y="1609007"/>
            <a:ext cx="9142646" cy="52605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134742-5E2A-04F9-7EFB-7FE06AF1726C}"/>
              </a:ext>
            </a:extLst>
          </p:cNvPr>
          <p:cNvSpPr txBox="1"/>
          <p:nvPr/>
        </p:nvSpPr>
        <p:spPr>
          <a:xfrm>
            <a:off x="7951868" y="1781703"/>
            <a:ext cx="25212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1. Optimize ground state geometry (S</a:t>
            </a:r>
            <a:r>
              <a:rPr lang="en-US" sz="2000" b="1" baseline="-25000" dirty="0">
                <a:solidFill>
                  <a:schemeClr val="bg1"/>
                </a:solidFill>
              </a:rPr>
              <a:t>0</a:t>
            </a:r>
            <a:r>
              <a:rPr lang="en-US" sz="20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190678-9861-DB28-F2DB-6D138D8CD9D9}"/>
              </a:ext>
            </a:extLst>
          </p:cNvPr>
          <p:cNvSpPr txBox="1"/>
          <p:nvPr/>
        </p:nvSpPr>
        <p:spPr>
          <a:xfrm>
            <a:off x="7963443" y="2717782"/>
            <a:ext cx="2824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2. Calculate first Singlet excited state (E</a:t>
            </a:r>
            <a:r>
              <a:rPr lang="en-US" sz="2000" b="1" baseline="-25000" dirty="0">
                <a:solidFill>
                  <a:schemeClr val="bg1"/>
                </a:solidFill>
              </a:rPr>
              <a:t>S1</a:t>
            </a:r>
            <a:r>
              <a:rPr lang="en-US" sz="20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D7198E-7C1F-33B0-6534-7F115031C6FB}"/>
              </a:ext>
            </a:extLst>
          </p:cNvPr>
          <p:cNvSpPr txBox="1"/>
          <p:nvPr/>
        </p:nvSpPr>
        <p:spPr>
          <a:xfrm>
            <a:off x="8051278" y="4099217"/>
            <a:ext cx="25212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3. Calculate Triplet excited state (E</a:t>
            </a:r>
            <a:r>
              <a:rPr lang="en-US" sz="2000" b="1" baseline="-25000" dirty="0">
                <a:solidFill>
                  <a:schemeClr val="bg1"/>
                </a:solidFill>
              </a:rPr>
              <a:t>T1</a:t>
            </a:r>
            <a:r>
              <a:rPr lang="en-US" sz="2000" b="1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349FE9-720B-061B-537D-2598CBEF5D49}"/>
              </a:ext>
            </a:extLst>
          </p:cNvPr>
          <p:cNvSpPr txBox="1"/>
          <p:nvPr/>
        </p:nvSpPr>
        <p:spPr>
          <a:xfrm>
            <a:off x="8051278" y="5393084"/>
            <a:ext cx="25212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4. Generate natural transition orbitals for visualization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EB027C-4304-156E-A8B7-4A3890B61EA4}"/>
              </a:ext>
            </a:extLst>
          </p:cNvPr>
          <p:cNvSpPr txBox="1"/>
          <p:nvPr/>
        </p:nvSpPr>
        <p:spPr>
          <a:xfrm>
            <a:off x="-53618" y="2225339"/>
            <a:ext cx="19725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Molecule cartesian coordinates (</a:t>
            </a:r>
            <a:r>
              <a:rPr lang="en-US" dirty="0" err="1"/>
              <a:t>x,y,z</a:t>
            </a:r>
            <a:r>
              <a:rPr lang="en-US" dirty="0"/>
              <a:t>) go here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9CF6970-42EE-364D-F153-FC8792FB2B3B}"/>
              </a:ext>
            </a:extLst>
          </p:cNvPr>
          <p:cNvCxnSpPr>
            <a:cxnSpLocks/>
          </p:cNvCxnSpPr>
          <p:nvPr/>
        </p:nvCxnSpPr>
        <p:spPr>
          <a:xfrm>
            <a:off x="1736307" y="2717782"/>
            <a:ext cx="236256" cy="107721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2D8B40D-F11A-5003-5231-4312CBC8F0E3}"/>
              </a:ext>
            </a:extLst>
          </p:cNvPr>
          <p:cNvSpPr txBox="1"/>
          <p:nvPr/>
        </p:nvSpPr>
        <p:spPr>
          <a:xfrm>
            <a:off x="0" y="3852995"/>
            <a:ext cx="19725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Indicates charge and spin multiplicity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8174F28-9F63-81DA-782D-09D2CFA99A36}"/>
              </a:ext>
            </a:extLst>
          </p:cNvPr>
          <p:cNvCxnSpPr>
            <a:cxnSpLocks/>
          </p:cNvCxnSpPr>
          <p:nvPr/>
        </p:nvCxnSpPr>
        <p:spPr>
          <a:xfrm>
            <a:off x="1597306" y="4053575"/>
            <a:ext cx="268020" cy="3509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371EFE2-AB6E-7F08-948A-69397A68ED82}"/>
              </a:ext>
            </a:extLst>
          </p:cNvPr>
          <p:cNvCxnSpPr>
            <a:cxnSpLocks/>
          </p:cNvCxnSpPr>
          <p:nvPr/>
        </p:nvCxnSpPr>
        <p:spPr>
          <a:xfrm flipV="1">
            <a:off x="1088020" y="4144821"/>
            <a:ext cx="938161" cy="33148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858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58828E-24D3-D99E-83E5-705789BC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D2F5A9-A7A4-B840-869F-43DAB9F717E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994B3C06-A413-7655-89C3-8AC29D620B2F}"/>
              </a:ext>
            </a:extLst>
          </p:cNvPr>
          <p:cNvSpPr txBox="1">
            <a:spLocks/>
          </p:cNvSpPr>
          <p:nvPr/>
        </p:nvSpPr>
        <p:spPr>
          <a:xfrm>
            <a:off x="289560" y="136525"/>
            <a:ext cx="763909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FF"/>
                </a:solidFill>
              </a:rPr>
              <a:t>What does a TDDFT Output file look like?</a:t>
            </a:r>
            <a:endParaRPr lang="en-US" dirty="0"/>
          </a:p>
        </p:txBody>
      </p:sp>
      <p:pic>
        <p:nvPicPr>
          <p:cNvPr id="9" name="Graphic 8" descr="Cloud Computing outline">
            <a:extLst>
              <a:ext uri="{FF2B5EF4-FFF2-40B4-BE49-F238E27FC236}">
                <a16:creationId xmlns:a16="http://schemas.microsoft.com/office/drawing/2014/main" id="{2065D604-70B0-6110-A4AE-237F55BDD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9155" y="88158"/>
            <a:ext cx="1325565" cy="1325565"/>
          </a:xfrm>
          <a:prstGeom prst="rect">
            <a:avLst/>
          </a:prstGeom>
        </p:spPr>
      </p:pic>
      <p:pic>
        <p:nvPicPr>
          <p:cNvPr id="4" name="Content Placeholder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E73A9470-8F39-C822-8C58-74F64D25CC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" y="2464024"/>
            <a:ext cx="12192000" cy="19068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78D3538-5DF0-9C50-276E-10D907199341}"/>
              </a:ext>
            </a:extLst>
          </p:cNvPr>
          <p:cNvSpPr txBox="1"/>
          <p:nvPr/>
        </p:nvSpPr>
        <p:spPr>
          <a:xfrm>
            <a:off x="2764973" y="1709038"/>
            <a:ext cx="19303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Spin Multiplicity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2F6DA75-3C94-C777-5F22-1D83BB5159F3}"/>
              </a:ext>
            </a:extLst>
          </p:cNvPr>
          <p:cNvCxnSpPr>
            <a:cxnSpLocks/>
          </p:cNvCxnSpPr>
          <p:nvPr/>
        </p:nvCxnSpPr>
        <p:spPr>
          <a:xfrm>
            <a:off x="3722869" y="2109148"/>
            <a:ext cx="362887" cy="52519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00844B87-5AFA-29FA-5D34-CC766CE2A9B7}"/>
              </a:ext>
            </a:extLst>
          </p:cNvPr>
          <p:cNvSpPr txBox="1"/>
          <p:nvPr/>
        </p:nvSpPr>
        <p:spPr>
          <a:xfrm>
            <a:off x="4942116" y="1690688"/>
            <a:ext cx="30103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</a:t>
            </a:r>
            <a:r>
              <a:rPr lang="en-US" sz="2000" baseline="-25000" dirty="0"/>
              <a:t>0</a:t>
            </a:r>
            <a:r>
              <a:rPr lang="en-US" sz="2000" dirty="0"/>
              <a:t> ---&gt; T</a:t>
            </a:r>
            <a:r>
              <a:rPr lang="en-US" sz="2000" baseline="-25000" dirty="0"/>
              <a:t>1</a:t>
            </a:r>
            <a:r>
              <a:rPr lang="en-US" sz="2000" dirty="0"/>
              <a:t> Excitation Energy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73EA808-1E6C-1A78-56C0-4B77B623F23E}"/>
              </a:ext>
            </a:extLst>
          </p:cNvPr>
          <p:cNvCxnSpPr>
            <a:cxnSpLocks/>
          </p:cNvCxnSpPr>
          <p:nvPr/>
        </p:nvCxnSpPr>
        <p:spPr>
          <a:xfrm>
            <a:off x="5900012" y="2090798"/>
            <a:ext cx="362887" cy="525195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712FAFD-5147-E4AF-36FD-3B92D715DCC4}"/>
              </a:ext>
            </a:extLst>
          </p:cNvPr>
          <p:cNvSpPr txBox="1"/>
          <p:nvPr/>
        </p:nvSpPr>
        <p:spPr>
          <a:xfrm>
            <a:off x="4782395" y="3099006"/>
            <a:ext cx="5663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Coefficients of the wavefunction for each excitation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66558F2-1D50-5C4D-E0DD-17CEF9F60C4C}"/>
              </a:ext>
            </a:extLst>
          </p:cNvPr>
          <p:cNvCxnSpPr>
            <a:cxnSpLocks/>
          </p:cNvCxnSpPr>
          <p:nvPr/>
        </p:nvCxnSpPr>
        <p:spPr>
          <a:xfrm flipH="1" flipV="1">
            <a:off x="4259834" y="3016368"/>
            <a:ext cx="522561" cy="161256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D5BBCE0-8593-6D18-DD20-736A49523FC3}"/>
              </a:ext>
            </a:extLst>
          </p:cNvPr>
          <p:cNvCxnSpPr>
            <a:cxnSpLocks/>
          </p:cNvCxnSpPr>
          <p:nvPr/>
        </p:nvCxnSpPr>
        <p:spPr>
          <a:xfrm flipH="1">
            <a:off x="4259834" y="3299061"/>
            <a:ext cx="522561" cy="0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E8850D8-35C3-70DD-137E-4BAE700C312F}"/>
              </a:ext>
            </a:extLst>
          </p:cNvPr>
          <p:cNvCxnSpPr>
            <a:cxnSpLocks/>
          </p:cNvCxnSpPr>
          <p:nvPr/>
        </p:nvCxnSpPr>
        <p:spPr>
          <a:xfrm flipH="1">
            <a:off x="4317830" y="3430067"/>
            <a:ext cx="515195" cy="184368"/>
          </a:xfrm>
          <a:prstGeom prst="straightConnector1">
            <a:avLst/>
          </a:prstGeom>
          <a:ln w="381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626AF25-331E-3F15-82C5-7633A841ED86}"/>
              </a:ext>
            </a:extLst>
          </p:cNvPr>
          <p:cNvSpPr txBox="1"/>
          <p:nvPr/>
        </p:nvSpPr>
        <p:spPr>
          <a:xfrm>
            <a:off x="0" y="4877824"/>
            <a:ext cx="18657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Orbitals Excited </a:t>
            </a:r>
          </a:p>
          <a:p>
            <a:r>
              <a:rPr lang="en-US" sz="2000" b="1" dirty="0"/>
              <a:t>From </a:t>
            </a:r>
            <a:r>
              <a:rPr lang="en-US" sz="2000" b="1" dirty="0">
                <a:sym typeface="Wingdings" pitchFamily="2" charset="2"/>
              </a:rPr>
              <a:t> To </a:t>
            </a:r>
            <a:endParaRPr lang="en-US" sz="2000" b="1" dirty="0"/>
          </a:p>
        </p:txBody>
      </p:sp>
      <p:sp>
        <p:nvSpPr>
          <p:cNvPr id="17" name="Bent Arrow 16">
            <a:extLst>
              <a:ext uri="{FF2B5EF4-FFF2-40B4-BE49-F238E27FC236}">
                <a16:creationId xmlns:a16="http://schemas.microsoft.com/office/drawing/2014/main" id="{FD3A032D-EB49-2FC6-B486-58E70E5E68B5}"/>
              </a:ext>
            </a:extLst>
          </p:cNvPr>
          <p:cNvSpPr/>
          <p:nvPr/>
        </p:nvSpPr>
        <p:spPr>
          <a:xfrm>
            <a:off x="528389" y="3522251"/>
            <a:ext cx="285534" cy="1378708"/>
          </a:xfrm>
          <a:prstGeom prst="ben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Bent Arrow 17">
            <a:extLst>
              <a:ext uri="{FF2B5EF4-FFF2-40B4-BE49-F238E27FC236}">
                <a16:creationId xmlns:a16="http://schemas.microsoft.com/office/drawing/2014/main" id="{CF05E407-6648-5253-724A-2B5AB1020420}"/>
              </a:ext>
            </a:extLst>
          </p:cNvPr>
          <p:cNvSpPr/>
          <p:nvPr/>
        </p:nvSpPr>
        <p:spPr>
          <a:xfrm>
            <a:off x="389379" y="3200759"/>
            <a:ext cx="370115" cy="1700200"/>
          </a:xfrm>
          <a:prstGeom prst="ben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Bent Arrow 18">
            <a:extLst>
              <a:ext uri="{FF2B5EF4-FFF2-40B4-BE49-F238E27FC236}">
                <a16:creationId xmlns:a16="http://schemas.microsoft.com/office/drawing/2014/main" id="{FDEDBA39-B1A4-9300-A543-D29C41051580}"/>
              </a:ext>
            </a:extLst>
          </p:cNvPr>
          <p:cNvSpPr/>
          <p:nvPr/>
        </p:nvSpPr>
        <p:spPr>
          <a:xfrm>
            <a:off x="197604" y="2917371"/>
            <a:ext cx="522561" cy="1983588"/>
          </a:xfrm>
          <a:prstGeom prst="bent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C6CAF9-D801-8C7B-523F-123A72E5BF3F}"/>
              </a:ext>
            </a:extLst>
          </p:cNvPr>
          <p:cNvSpPr txBox="1"/>
          <p:nvPr/>
        </p:nvSpPr>
        <p:spPr>
          <a:xfrm>
            <a:off x="2199466" y="4822918"/>
            <a:ext cx="96588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Coefficients indicate strength of the transition and help determine the type of orbital transition  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Largest coefficient means higher contribution to the overall transition </a:t>
            </a:r>
          </a:p>
        </p:txBody>
      </p:sp>
    </p:spTree>
    <p:extLst>
      <p:ext uri="{BB962C8B-B14F-4D97-AF65-F5344CB8AC3E}">
        <p14:creationId xmlns:p14="http://schemas.microsoft.com/office/powerpoint/2010/main" val="1928964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  <p:bldP spid="16" grpId="0"/>
      <p:bldP spid="17" grpId="0" animBg="1"/>
      <p:bldP spid="18" grpId="0" animBg="1"/>
      <p:bldP spid="19" grpId="0" animBg="1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58828E-24D3-D99E-83E5-705789BC7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6D2F5A9-A7A4-B840-869F-43DAB9F717E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994B3C06-A413-7655-89C3-8AC29D620B2F}"/>
              </a:ext>
            </a:extLst>
          </p:cNvPr>
          <p:cNvSpPr txBox="1">
            <a:spLocks/>
          </p:cNvSpPr>
          <p:nvPr/>
        </p:nvSpPr>
        <p:spPr>
          <a:xfrm>
            <a:off x="289560" y="136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5" name="Title 5">
            <a:extLst>
              <a:ext uri="{FF2B5EF4-FFF2-40B4-BE49-F238E27FC236}">
                <a16:creationId xmlns:a16="http://schemas.microsoft.com/office/drawing/2014/main" id="{832FFCD6-1EBE-499C-77E6-D99703C744B8}"/>
              </a:ext>
            </a:extLst>
          </p:cNvPr>
          <p:cNvSpPr txBox="1">
            <a:spLocks/>
          </p:cNvSpPr>
          <p:nvPr/>
        </p:nvSpPr>
        <p:spPr>
          <a:xfrm>
            <a:off x="160468" y="200851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FFFFFF"/>
                </a:solidFill>
              </a:rPr>
              <a:t>Juglone and Perinaphthenone Orbitals</a:t>
            </a:r>
          </a:p>
        </p:txBody>
      </p:sp>
      <p:pic>
        <p:nvPicPr>
          <p:cNvPr id="7" name="Picture 6" descr="A person and person with a black background&#10;&#10;Description automatically generated">
            <a:extLst>
              <a:ext uri="{FF2B5EF4-FFF2-40B4-BE49-F238E27FC236}">
                <a16:creationId xmlns:a16="http://schemas.microsoft.com/office/drawing/2014/main" id="{4F587C0D-D369-1493-6088-22C0B9098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405" y="1733957"/>
            <a:ext cx="7772400" cy="2693111"/>
          </a:xfrm>
          <a:prstGeom prst="rect">
            <a:avLst/>
          </a:prstGeom>
        </p:spPr>
      </p:pic>
      <p:pic>
        <p:nvPicPr>
          <p:cNvPr id="10" name="Picture 9" descr="A blue arrow pointing to the left&#10;&#10;Description automatically generated">
            <a:extLst>
              <a:ext uri="{FF2B5EF4-FFF2-40B4-BE49-F238E27FC236}">
                <a16:creationId xmlns:a16="http://schemas.microsoft.com/office/drawing/2014/main" id="{28013711-22CD-2650-BDF3-4E41CDC63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0405" y="4381613"/>
            <a:ext cx="7772400" cy="25218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CE3420A-BE24-D4A6-95A2-049338108575}"/>
              </a:ext>
            </a:extLst>
          </p:cNvPr>
          <p:cNvSpPr txBox="1"/>
          <p:nvPr/>
        </p:nvSpPr>
        <p:spPr>
          <a:xfrm>
            <a:off x="354465" y="2804856"/>
            <a:ext cx="1816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Perinaphthenone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2C9664-2BB5-6A67-4FCB-B375207B7E12}"/>
              </a:ext>
            </a:extLst>
          </p:cNvPr>
          <p:cNvSpPr txBox="1"/>
          <p:nvPr/>
        </p:nvSpPr>
        <p:spPr>
          <a:xfrm>
            <a:off x="811961" y="5457868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Juglone</a:t>
            </a:r>
          </a:p>
        </p:txBody>
      </p:sp>
    </p:spTree>
    <p:extLst>
      <p:ext uri="{BB962C8B-B14F-4D97-AF65-F5344CB8AC3E}">
        <p14:creationId xmlns:p14="http://schemas.microsoft.com/office/powerpoint/2010/main" val="36898951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1968</TotalTime>
  <Words>282</Words>
  <Application>Microsoft Macintosh PowerPoint</Application>
  <PresentationFormat>Widescreen</PresentationFormat>
  <Paragraphs>40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Whitney Book</vt:lpstr>
      <vt:lpstr>1_Office Theme</vt:lpstr>
      <vt:lpstr>Why These Photosensitizers?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NBD Group Meeting 142</dc:title>
  <dc:creator>keighan@student.ubc.ca</dc:creator>
  <cp:lastModifiedBy>keighan@student.ubc.ca</cp:lastModifiedBy>
  <cp:revision>236</cp:revision>
  <dcterms:created xsi:type="dcterms:W3CDTF">2025-05-02T23:45:02Z</dcterms:created>
  <dcterms:modified xsi:type="dcterms:W3CDTF">2025-06-19T21:07:29Z</dcterms:modified>
</cp:coreProperties>
</file>